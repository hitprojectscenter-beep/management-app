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5FA8">
              <a:alpha val="30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PMO++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פלטפורמת ניהול פרויקטים פנים-ארגונית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Management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המרכז למיפוי ישראל · Israel Mapping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מקיפה · 20 פרקים · גרסה 3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ארכיטקטורה: היררכיה מארבע רמות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6-tier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0D3A72"/>
          </a:solidFill>
          <a:ln w="12700">
            <a:solidFill>
              <a:srgbClr val="0D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פורטפוליו · Portfolio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2468880"/>
            <a:ext cx="9144000" cy="685800"/>
          </a:xfrm>
          <a:prstGeom prst="roundRect">
            <a:avLst>
              <a:gd name="adj" fmla="val 13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468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 (Program) · Program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3291840"/>
            <a:ext cx="731520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291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 · Project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411480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1148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WBS — חבילות עבודה · Work Breakdown 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93776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4937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משימה · Task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576072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5760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תת-משימה · Subtask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המשימות שלי — דף הבית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— Landing page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מטרה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תצוגה אישית של כל המשימות הפתוחות של המשתמש, ממוינות לפי דחיפות. נקודת ההתחלה של כל יום עבודה.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הבית מציג את ה'מה צריך לעשות עכשיו' באופן ברור, ללא צורך לחפש במספר מסכים.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לשוניות סינון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הכל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בביצוע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לא התחילו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בבדיקה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חסומות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באיחור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לפי פרויקט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כל משימה מציגה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כותרת + תיאור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 הפרויקט (קישור)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תאריך יעד + זמן נותר דינמי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עדיפות (Badge צבעוני)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כפתורי פעולה: סגירה, שיוך מחדש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114800"/>
            <a:ext cx="109728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סייד-פאנל הפרויקטים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61772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הפרויקטים שלי + תפקיד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אחוז משרה (FTE) לכל פרויקט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סה"כ FTE עם אזהרת הקצאת יתר (&gt;100%)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+ להוספת משימה חדשה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דשבורדים ו-KPI — 17 מדדים אינטראקטיביים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KPI — 17 interactive metrics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 · PMO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בורר תפקיד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6459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73736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52160" y="2391156"/>
            <a:ext cx="2468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· SPI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16459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37360"/>
            <a:ext cx="3108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03920" y="2391156"/>
            <a:ext cx="31089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מנהלים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פרויקט (PM) — תפעולי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Variance · Milestone Slippage · Throughput שבועי · Budget Adherence · CPI · SPI · Rework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מנהל PMO — אסטרטגי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· ROI · Capacity vs Demand · Risk Trend · Decision Latency · NPS · Burnout · AI Adoption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5488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מקורות + אינטראקטיביות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כרטיס לחיץ → בועת מידע מפורטת עם הסבר, נוסחה, מקור, וגרף לדוגמה. מבוסס תקני PMBOK, EVM, McKinsey, Bain, MBI, Gartner. שני דשבורדים מובחנים ויזואלית (כחול PM / סגול PMO).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לוח גאנט מתקדם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Gantt with CPM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 WBS משמאל + תרשים גאנט מימין עם Sync scroll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מול ביצוע — שני פסים מקבילים לכל משימה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נתיב קריטי (CPM) — Kahn's algorithm, תאורה אדומה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אבני דרך (Milestones) — יהלום סגול עם דגל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חוצץ זמן (Buffer) אופציונלי — מלבן מקווקו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line — נקודה כתומה במיקום הנוכחי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קידוד צבעים אוטומטי לפי בריאות (ירוק/צהוב/אדום)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bars — פסי אב להראות summary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פופאפ לחיצה: סטטוס, תלויות, אחראי, התקדמות</a:t>
            </a:r>
            <a:endParaRPr lang="en-US" sz="1400" dirty="0"/>
          </a:p>
          <a:p>
            <a:pPr algn="r" marL="342900" indent="-342900">
              <a:lnSpc>
                <a:spcPct val="130000"/>
              </a:lnSpc>
              <a:buSzPct val="100000"/>
              <a:buChar char="●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מלא — ציר LTR פנימי לתאריכים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37360"/>
            <a:ext cx="10972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 (CSV עם BOM ל-UTF-8 תאימות עברית)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(window.print + print stylesheet)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sidebar/topbar אוטומטית בהדפסה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8404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840480"/>
            <a:ext cx="109728" cy="2011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43434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רוחב טבלה רספונסיבי (200px → 520px)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עמודות מוסתרות במובייל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פופאפ ממורכז על המסך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כפתור min-h-[44px] לטאצ'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WBS — Work Breakdown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tree with weighted roll-up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עץ היררכי רקורסיבי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אגרגציה מ-leaf nodes למעלה דרך כל ההיררכיה: שעות מתוכננות/בפועל, אחוז התקדמות משוקלל לפי שעות, תאריכים מינימלי/מקסימלי, עלויות (hourly rate × שעות), ספירת משימות (total/done/blocked/overdue).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17520"/>
            <a:ext cx="109728" cy="1554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מספור אוטומטי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traversal: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1.1 → 1.1.1 → 1.2 → 2 → 2.1 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17520"/>
            <a:ext cx="10972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Roll-up משוקלל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התקדמות = Σ(progress × hours) / Σ(hours)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ממוצע פשוט — שווה לפי גודל המשימה.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663440"/>
            <a:ext cx="10972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Roll-up bars בגאנט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פסי אב מציגים summary של ה-node כולו: תאריך מינימלי של leaf, תאריך מקסימלי של leaf, ממוצע התקדמות משוקלל. לחיצה על node פותחת פופאפ עם משימות / הושלמו / חסומות / באיחור / שעות / תוצר.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פרויקטים — 4 תצוגות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— 4 views per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194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רשימה · 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עם sortable columns: שם, אחראי, סטטוס, תאריך, התקדמות, עדיפות.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194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קנבן · Kanban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עמודות: Not Started / In Progress / Review / Done. גרירה ושחרור עם @dnd-kit.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גאנט · Gantt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AdvancedGantt עם נתיב קריטי, אבני דרך, חוצץ זמן וייצוא Excel/PDF.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023360"/>
            <a:ext cx="109728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· Calendar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grid month view עם משימות צבעוניות לפי עדיפות.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אינטגרציה מלאה עם Google Calendar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Google Calendar Sync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PMO++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משימות · אבני דרך · פגישות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⇄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48640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64592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91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Calendar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Reminders · Attendees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109728" cy="15544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Push: PMO++ → Google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משימה חדשה / עדכון סטטוס יוצרים אוטומטית אירוע ביומן של האחראי. שינוי תאריך → עדכון האירוע.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10896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Pull: Google → PMO++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6118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ב-/api/webhooks/google-calendar קולט push notifications. אירועים מסומנים כפגישות ביומן הפרויקט.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54880"/>
            <a:ext cx="109728" cy="1645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OAuth 2.0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התחברות Google רגילה. ה-Scope: calendar.events. Token נשמר ב-DB מוצפן. Refresh אוטומטי.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754880"/>
            <a:ext cx="10972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אירועי דמו מסונכרנים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5257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דדליין פרסום הבריף · ועדת בחינת הצעות · בדיקות UAT · בחירת ספק זוכה · סקירת תחזוקה רבעונית (חוזרת) · חוזה סופי.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סיכונים פרואקטיבי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חסומה בהמתנה ל-dependency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Overdue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עברה את plannedEnd ולא הושלמה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Effort Overrun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actualHours &gt; estimateHours × 1.5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 Slip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פיגור גדל ב-2+ שבועות רצופים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Not Started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298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 קריטית שלא התחילה תוך 5 ימים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83280"/>
            <a:ext cx="109728" cy="13716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חיזוי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8862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actual vs required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ממוצע סליפ → forecast end 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38328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אפקט שרשרת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886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על גרף תלויות → מספר משימות מושפעות, מתוכן בנתיב קריטי, ימי cascade.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84632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קטגוריות פעולה: Resource / Schedule / Scope / Process / Escalation. שיוך מחדש חכם: skill match (40%) + availability (35%) + performance (25%).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מרכז AI — Sidekick + תכנית גידור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Center — Sidekick + Mitigation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46634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Sidekick (Chat)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צ'אט מבוסס Google Gemini 2.5 Flash.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מלא ע"פ תפקיד המשתמש: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 data של הארגון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snapshot (משימות, FTE, סיכונים)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facts (15 דפים, 17 KPIs)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Base 42+ Q&amp;A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guidelines: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with conclusion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numbers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 action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מלאות: he/en/ru/fr/es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4663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תכנית גידור (MitigationPlanCard)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gradient + 2 stats: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סך פעולות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פעולות מיידיות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Reassignment: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score 0-100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From/To avatars + Arrow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Reasoning כ-badges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Severity + risk type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Preferred action ⭐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button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 — אזהרות אמבר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עוזר אישי קולי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Personal Assistant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1945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STT — דיבור לטקסט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 דו-מצבית: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Speech API (Chrome / Edge)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MediaRecorder fallback (iOS Safari / Firefox)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Interim results בזמן אמת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TTS — טקסט לדיבור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 עם בחירת קול אוטומטית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רייטינג איכות: Google/Neural &gt; Microsoft Online &gt; Apple &gt; local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ping (Chrome 15s cutoff fix)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הגיית קיצורים נכונה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לו"ז → לוז ("luz")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מנכ"ל → מנכל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סמנכ"ל → סמנכל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צה"ל → צהל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ת"א → תל אביב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וכו' → וכולי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Smart quotes ו-Hebrew gershayim ׳ 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109728" cy="2377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מקטעי 350 תווים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הסרת תקרת 500 התווים הישנה.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תשובה נחתכת בגבול משפט (. ! ?) ומוקראת ברצף.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SPEAK_TOKEN — לחיצה על מיקרופון מבטלת כל מקטע בתור.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שיחה: האזנה אוטומטית אחרי תשובה.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דוחות וייצוא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109728" cy="2286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ExportPdfButton — window.print() עם print stylesheet מותאם.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הסתרת sidebar / topbar / כפתורים צפים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@page { size: A4 landscape }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print-color-adjust: exact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Toast notifications (מכין → מוכן)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ייצוא Excel/CSV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lib/gantt/export.ts: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עם BOM (\uFEFF) ל-UTF-8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תאימות עברית מלאה ב-Excel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אחת הדרכים היחידות שעובדות RTL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1480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מבני דוחות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Gantt full-width (WBS table + chart)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dashboard עם בורר תפקיד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משימות עם פילטרים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כרטיסי פרויקטים עם health score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רשימת סיכונים + matrix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יומן פעילות (Activity Log) של משתמשים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אוטומציות — בנאי No-Code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— No-Code Builder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סוגי טריגרים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891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תנאים אופציונליים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21945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566160" cy="164592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2296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פעולות (2 AI)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57600"/>
            <a:ext cx="10972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תבניות מוכנות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1605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Reminder · Overdue Alert · New Risk Notification · Daily Report · Weekly Summary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02920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אופן הבנייה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שלבים ויזואליים: Trigger → Conditions → Actions. כרטיס סיכום סגול עם ולידציה ו-toast. אינטגרציה עם 2 AI actions (summarize, recommend).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צוות והזמנות מייל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Email Invitations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חברי צוות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תפקידים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554480"/>
            <a:ext cx="5760720" cy="320040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554480"/>
            <a:ext cx="5760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6002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 מייל הזמנה (Demo)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2148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noreply@mapi.gov.il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new.user@example.com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הזמנה ל-PMO++ של המרכז למיפוי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9260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שלום,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הוזמנת להצטרף ל-PMO++ של המרכז למיפוי ישראל.</a:t>
            </a:r>
            <a:endParaRPr lang="en-US" sz="1100" dirty="0"/>
          </a:p>
          <a:p>
            <a:pPr algn="r" indent="0" marL="0">
              <a:buNone/>
            </a:pP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תפקיד: מנהל פרויקט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חטיבה: IT  ·  אגף: יישומים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39776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אישור הזמנה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34640"/>
            <a:ext cx="109728" cy="19202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טופס הזמנת חבר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InviteMemberDialog: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שם מלא (*)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תפקיד (10 אופציות)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חטיבה (8 אופציות)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אגף (8 אופציות)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טלפון (*)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מייל (*)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"אחר…" לכל dropdown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4632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תוכן המייל ושליחה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53492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המייל נשלח אוטומטית עם שם המזמין, תפקיד מותאם וקישור הצטרפות חתום. במצב הדגמה הנוכחי — Toast מציין שהמייל היה נשלח. בייצור: SendGrid / SMTP דרך Vercel Functions עם תבנית HTML מותאמת + תרגום ל-5 שפות.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מערכת — 6 לשוניות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6 tabs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משתמשים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+ Search + סינון + Add/Edit/Delete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הרשאות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תפקידים × 12 הרשאות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737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737360"/>
            <a:ext cx="109728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סוגי פריטים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697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סוגים מובנים + צבע + emoji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23360"/>
            <a:ext cx="109728" cy="2103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שיוך היררכי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העברת פרויקטים/משימות בין רמות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4023360"/>
            <a:ext cx="109728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טבלת הרשאות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1772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משתמשים × 12 הרשאות (X/12)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02336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023360"/>
            <a:ext cx="109728" cy="2103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 פעילות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0" y="4617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פעילויות + סטטיסטיקות + ציר זמן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RBAC: נראות שונה לפי תפקיד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Visibility Matrix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200400" cy="502920"/>
          </a:xfrm>
          <a:prstGeom prst="rect">
            <a:avLst/>
          </a:prstGeom>
          <a:solidFill>
            <a:srgbClr val="0D3A72"/>
          </a:solidFill>
          <a:ln w="12700">
            <a:solidFill>
              <a:srgbClr val="0D3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הרשאה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645920"/>
            <a:ext cx="157276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21808" y="1645920"/>
            <a:ext cx="1572768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94576" y="1645920"/>
            <a:ext cx="1572768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67344" y="1645920"/>
            <a:ext cx="15727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40112" y="1645920"/>
            <a:ext cx="157276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16459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14884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4884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כללית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21808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94576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67344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040112" y="214884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0112" y="21488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2478024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47802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משימה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21808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94576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4576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467344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67344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040112" y="247802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40112" y="24780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280720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28072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עריכת משימה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49040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321808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94576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467344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67344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0040112" y="2807208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40112" y="28072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48640" y="3136392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31363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משימה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49040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321808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1808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894576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94576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467344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67344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10040112" y="3136392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40112" y="313639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48640" y="346557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34655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פרויקט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749040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321808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894576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94576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8467344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67344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10040112" y="3465576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040112" y="34655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548640" y="3794760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" y="3794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מחיקת פרויקט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749040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49040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321808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21808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894576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94576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467344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67344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10040112" y="3794760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040112" y="37947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548640" y="412394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5800" y="41239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צוות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749040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49040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5321808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21808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894576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94576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8467344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67344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10040112" y="4123944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040112" y="412394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548640" y="4453128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5800" y="44531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תפקידים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749040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749040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5321808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321808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6894576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894576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8467344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467344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10040112" y="4453128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040112" y="44531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548640" y="478231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85800" y="47823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מערכת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749040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749040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5321808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321808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6894576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894576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3" name="Shape 121"/>
          <p:cNvSpPr/>
          <p:nvPr/>
        </p:nvSpPr>
        <p:spPr>
          <a:xfrm>
            <a:off x="8467344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467344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5" name="Shape 123"/>
          <p:cNvSpPr/>
          <p:nvPr/>
        </p:nvSpPr>
        <p:spPr>
          <a:xfrm>
            <a:off x="10040112" y="4782312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040112" y="47823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27" name="Shape 125"/>
          <p:cNvSpPr/>
          <p:nvPr/>
        </p:nvSpPr>
        <p:spPr>
          <a:xfrm>
            <a:off x="548640" y="5111496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5800" y="511149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צפייה בדוחות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749040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49040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5321808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321808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6894576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94576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5" name="Shape 133"/>
          <p:cNvSpPr/>
          <p:nvPr/>
        </p:nvSpPr>
        <p:spPr>
          <a:xfrm>
            <a:off x="8467344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467344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37" name="Shape 135"/>
          <p:cNvSpPr/>
          <p:nvPr/>
        </p:nvSpPr>
        <p:spPr>
          <a:xfrm>
            <a:off x="10040112" y="5111496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040112" y="5111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39" name="Shape 137"/>
          <p:cNvSpPr/>
          <p:nvPr/>
        </p:nvSpPr>
        <p:spPr>
          <a:xfrm>
            <a:off x="548640" y="544068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85800" y="54406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אוטומציות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3749040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749040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3" name="Shape 141"/>
          <p:cNvSpPr/>
          <p:nvPr/>
        </p:nvSpPr>
        <p:spPr>
          <a:xfrm>
            <a:off x="5321808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321808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45" name="Shape 143"/>
          <p:cNvSpPr/>
          <p:nvPr/>
        </p:nvSpPr>
        <p:spPr>
          <a:xfrm>
            <a:off x="6894576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894576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8467344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467344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49" name="Shape 147"/>
          <p:cNvSpPr/>
          <p:nvPr/>
        </p:nvSpPr>
        <p:spPr>
          <a:xfrm>
            <a:off x="10040112" y="5440680"/>
            <a:ext cx="157276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040112" y="544068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51" name="Shape 149"/>
          <p:cNvSpPr/>
          <p:nvPr/>
        </p:nvSpPr>
        <p:spPr>
          <a:xfrm>
            <a:off x="548640" y="5769864"/>
            <a:ext cx="32004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85800" y="57698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גישת AI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3749040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749040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5321808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321808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7" name="Shape 155"/>
          <p:cNvSpPr/>
          <p:nvPr/>
        </p:nvSpPr>
        <p:spPr>
          <a:xfrm>
            <a:off x="6894576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894576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59" name="Shape 157"/>
          <p:cNvSpPr/>
          <p:nvPr/>
        </p:nvSpPr>
        <p:spPr>
          <a:xfrm>
            <a:off x="8467344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467344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61" name="Shape 159"/>
          <p:cNvSpPr/>
          <p:nvPr/>
        </p:nvSpPr>
        <p:spPr>
          <a:xfrm>
            <a:off x="10040112" y="5769864"/>
            <a:ext cx="157276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0040112" y="5769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400" dirty="0"/>
          </a:p>
        </p:txBody>
      </p:sp>
      <p:sp>
        <p:nvSpPr>
          <p:cNvPr id="163" name="Text 161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Switcher בסרגל מאפשר החלפת תפקיד מיידית — תפריט הניווט (15 פריטים) מסונן, כפתורים מוסתרים, ודפים מוצגים/חסומים על-פי תפקיד המשתמש הפעיל.</a:t>
            </a:r>
            <a:endParaRPr lang="en-US" sz="1100" dirty="0"/>
          </a:p>
        </p:txBody>
      </p:sp>
      <p:sp>
        <p:nvSpPr>
          <p:cNvPr id="164" name="Shape 16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התראות ומיילים למשתמש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Email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/ SMTP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תבנית HTML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שפות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🔔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4340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פעמון בסרגל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רשימת התראות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סימון נקרא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38160" y="22402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2606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אירוע ב-Google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הזמנת משתתפים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תזכורת אוטומטית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74720"/>
            <a:ext cx="109728" cy="29260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מיילים שנשלחים אוטומטית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הזמנת חבר צוות חדש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שיוך משימה למשתמש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משימה באיחור (סיכון Overdue)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תזכורת לפני תאריך יעד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סיכום יומי / שבועי לפי בקשה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אישור הצטרפות לפרויקט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דיווח על סיכון קריטי חדש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דוחות מתוזמנים מאוטומציות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4747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474720"/>
            <a:ext cx="109728" cy="2926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ניהול העדפות התראה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977640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משתמש קובע איזה אירועים יישלחו במייל ואיזה רק בתוך האפליקציה.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בדף Settings: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digest (יומי / שבועי / מיידי)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ערוצים מועדפים לכל סוג אירוע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השתקה זמנית (Do-not-disturb)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שפת המייל (5 שפות)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פורמט HTML או טקסט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רב-לשוניות מלאה — 5 שפות + RTL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— 5 languages + RTL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עברית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🇬🇧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834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🇷🇺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120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Русский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🇫🇷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406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Français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2103120" cy="1828800"/>
          </a:xfrm>
          <a:prstGeom prst="roundRect">
            <a:avLst>
              <a:gd name="adj" fmla="val 75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🇪🇸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6926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Español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840480"/>
            <a:ext cx="109728" cy="1280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txt(locale, {he,en,ru,fr,es})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מרכזי. 346 דפוסי isHe ב-18 קבצים הומרו ל-txt().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840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840480"/>
            <a:ext cx="10972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RTL מלא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343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properties: ms / me / ps / pe / start / end. הגאנט בנוי ידנית כדי לתמוך RTL.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12080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Locale routing (next-intl)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57150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localePrefix: as-needed (עברית = /, אנגלית = /en). זיהוי שפה מטקסט: עברית/Cyrillic/Latin → locale → ברירת מחדל עברית.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מובייל ו-PWA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Progressive Web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1E5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09728" cy="21031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תפריט נשלף (Sheet)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Sheet primitive. תפריט המבורגר ☰ במובייל. ניווט slide-in RTL. Topbar מצמיד hamburger button.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737360"/>
            <a:ext cx="109728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 targets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כפתור min-h-[44px] min-w-[44px] לפי Apple HIG. inputs font-size: 16px למניעת zoom ב-iOS. onFocus scroll into view.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 Manifest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shem עברי. theme color Mapi blue. standalone mode. icons 192/512 PNG. apple-touch-icon.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התקנה: Chrome → Install app, Safari → Add to Home Screen.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10972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Viewport ו-safe area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viewportFit: cover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env(safe-area-inset-*)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-webkit-text-size-adjust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touch-action: manipulation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רגישות לפדינג של notch / camera punch.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PMO++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טכנולוגיות ובסיס נתונים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Database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15.5 App Router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strict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3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shadcn/ui (ידני)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Radix UI primitives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 (גרפים)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dnd-kit (Kanban)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&amp; אינטגרציות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API Routes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runtime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next-intl (5 שפות)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CASL (RBAC)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Calendar API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Email: SendGrid/SMTP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Webhooks דו-כיווניים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2402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 2.5 Flash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Claude (אופציונלי)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Heuristic intent parser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facts + live snapshot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base (42+ Q&amp;A)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Speech API (STT)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 Synthesis (TTS)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Engine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— schema TypeScript-first, type-safe, Edge-compatible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טבלאות מוכנות ב-lib/db/schema.ts: portfolios, programs, projects, wbs_nodes, tasks, task_dependencies, users, project_members, comments, audit_log, attachments, automations, ai_usage, ai_recommendations, notifications, calendar_events, item_types, sessions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ייצור: Neon Postgres / Supabase / Vercel Postgres — חיבור דרך drizzle() client | פיתוח: Mock data layer (lib/db/mock-data.ts) עם נתוני Salesforce אמיתיים מהאקסל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Vercel · Source: GitHub · CI/CD: auto deploy on push to main · OAuth 2.0 ל-Google Calendar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המרכז למיפוי ישראל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PMO++ - פלטפורמת ניהול פרויקטים פנים-ארגונית</dc:title>
  <dc:subject>PptxGenJS Presentation</dc:subject>
  <dc:creator>PMO++</dc:creator>
  <cp:lastModifiedBy>PMO++</cp:lastModifiedBy>
  <cp:revision>1</cp:revision>
  <dcterms:created xsi:type="dcterms:W3CDTF">2026-06-20T20:00:50Z</dcterms:created>
  <dcterms:modified xsi:type="dcterms:W3CDTF">2026-06-20T20:00:50Z</dcterms:modified>
</cp:coreProperties>
</file>