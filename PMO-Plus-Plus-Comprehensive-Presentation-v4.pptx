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5FA8">
              <a:alpha val="30000"/>
            </a:srgbClr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PMO++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8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פלטפורמת ניהול פרויקטים פנים-ארגונית</a:t>
            </a:r>
            <a:endParaRPr lang="he-IL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Management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המרכז למיפוי ישראל · ‎Israel‎ ‎Mapping‎ ‎Center‎</a:t>
            </a:r>
            <a:endParaRPr lang="he-IL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מקיפה · 20 פרקים · גרסה 4 · 2026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ארכיטקטורה: היררכיה משש רמות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6-tier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10972800" cy="685800"/>
          </a:xfrm>
          <a:prstGeom prst="roundRect">
            <a:avLst>
              <a:gd name="adj" fmla="val 13333"/>
            </a:avLst>
          </a:prstGeom>
          <a:solidFill>
            <a:srgbClr val="0D3A72"/>
          </a:solidFill>
          <a:ln w="12700">
            <a:solidFill>
              <a:srgbClr val="0D3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פורטפוליו · ‎Portfolio‎</a:t>
            </a:r>
            <a:endParaRPr lang="he-IL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246888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468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תוכנית · ‎Program‎</a:t>
            </a:r>
            <a:endParaRPr lang="he-IL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3291840"/>
            <a:ext cx="731520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291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 · ‎Project‎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411480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41148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‎WBS‎ — חבילות עבודה · ‎Work‎ ‎Breakdown‎ ‎Structure‎</a:t>
            </a:r>
            <a:endParaRPr lang="he-IL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9377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4937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משימה · ‎Task‎</a:t>
            </a:r>
            <a:endParaRPr lang="he-IL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576072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5760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תת-משימה · ‎Subtask‎</a:t>
            </a:r>
            <a:endParaRPr lang="he-IL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המשימות שלי — דף הבית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— Landing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מטרה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תצוגה אישית של כל המשימות הפתוחות של המשתמש, ממוינות לפי דחיפות. נקודת ההתחלה של כל יום עבודה.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הבית מציג את ה״מה צריך לעשות עכשיו" באופן ברור, ללא צורך לחפש בין כמה מסכים.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לשוניות סינון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הכל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בביצוע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לא התחילו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בבדיקה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חסומות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באיחור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לפי פרויקט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1480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 משימה מציגה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כותרת + תיאור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שם הפרויקט (קישור)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תאריך יעד + זמן נותר דינמי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עדיפות (‎badge‎ צבעוני)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כפתורי פעולה: סגירה, שיוך מחדש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114800"/>
            <a:ext cx="109728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סייד-פאנל הפרויקטים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61772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הפרויקטים שלי + תפקיד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אחוז משרה ⁦(‎FTE‎)⁩ לכל פרויקט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סך ‎FTE‎ עם אזהרת הקצאת יתר (מעל 100%)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+ להוספת משימה חדשה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דשבורדים ו-‎KPI‎ — 17 מדדים אינטראקטיביים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KPI — 17 interactive metrics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מדדי ‎KPI‎</a:t>
            </a:r>
            <a:endParaRPr lang="he-IL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 · PMO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בורר תפקיד</a:t>
            </a:r>
            <a:endParaRPr lang="he-IL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· SPI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6459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37360"/>
            <a:ext cx="3108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03920" y="2391156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בקרה למנהלים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109728" cy="1554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פרויקט ⁦(‎PM‎)⁩ — תפעולי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‎Schedule‎ ‎Variance‎ · ‎Milestone‎ ‎Slippage‎ · ‎Throughput‎ שבועי · ‎Budget‎ ‎Adherence‎ · ‎CPI‎ · ‎SPI‎ · ‎Rework‎ ‎Rate‎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01752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‎PMO‎ — אסטרטגי</a:t>
            </a:r>
            <a:endParaRPr lang="he-IL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5204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 · ROI · Capacity vs Demand · Risk Trend · Decision Latency · NPS · Burnout · AI Adoption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75488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מקורות + אינטראקטיביות</a:t>
            </a:r>
            <a:endParaRPr lang="he-IL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כרטיס לחיץ — בועת מידע מפורטת עם הסבר, נוסחה, מקור וגרף לדוגמה. מבוסס תקני ‎PMBOK‎, ‎EVM‎, ‎McKinsey‎, ‎Bain‎, ‎MBI‎ ו-‎Gartner.‎ שני דשבורדים מובחנים ויזואלית (כחול ‎PM‎ / סגול ‎PMO‎).</a:t>
            </a:r>
            <a:endParaRPr lang="he-IL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לוח גאנט מתקדם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Gantt with CPM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טבלת ‎WBS‎ משמאל + תרשים גאנט מימין עם ‎sync‎ ‎scroll‎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מול ביצוע — שני פסים מקבילים לכל משימה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נתיב קריטי ⁦(‎CPM‎)⁩ — אלגוריתם ‎Kahn‎, תאורה אדומה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אבני דרך ⁦(‎milestones‎)⁩ — יהלום סגול עם דגל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חוצץ זמן ⁦(‎buffer‎)⁩ אופציונלי — מלבן מקווקו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‎Today‎ ‎line‎ — נקודה כתומה במיקום הנוכחי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קידוד צבעים אוטומטי לפי בריאות (ירוק/צהוב/אדום)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‎Roll-up‎ ‎bars‎ — פסי אב להראות ‎summary‎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פופאפ לחיצה: סטטוס, תלויות, אחראי, התקדמות</a:t>
            </a:r>
            <a:endParaRPr lang="he-IL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he-IL" alt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‎RTL‎ מלא — ציר ‎LTR‎ פנימי לתאריכים</a:t>
            </a:r>
            <a:endParaRPr lang="he-IL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37360"/>
            <a:ext cx="109728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</a:t>
            </a:r>
            <a:endParaRPr lang="he-IL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‎Excel‎ (‎CSV‎ עם ‎BOM‎ ל-‎UTF-8‎ ותאימות עברית)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‎PDF‎ ⁦(‎window.print‎ + ‎print‎ ‎stylesheet‎)⁩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הסתרת ‎sidebar/topbar‎ אוטומטית בהדפסה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8404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840480"/>
            <a:ext cx="109728" cy="2011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מובייל</a:t>
            </a:r>
            <a:endParaRPr lang="he-IL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43434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רוחב טבלה רספונסיבי ⁦(200‎px‎ → 520‎px‎)⁩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עמודות מוסתרות במובייל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פופאפ ממורכז על המסך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‎min-h-‎[44‎px‎] לטאצ׳</a:t>
            </a:r>
            <a:endParaRPr lang="he-IL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WBS — Work Breakdown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tree with weighted roll-up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1280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עץ היררכי רקורסיבי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אגרגציה מ-‎leaf‎ ‎nodes‎ למעלה דרך כל ההיררכיה: שעות מתוכננות/בפועל, אחוז התקדמות משוקלל לפי שעות, תאריכים מינימלי/מקסימלי, עלויות (תעריף שעתי × שעות), וספירת משימות ⁦(‎total/done/blocked/overdue‎)⁩.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17520"/>
            <a:ext cx="109728" cy="1554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מספור אוטומטי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traversal: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1.1 → 1.1.1 → 1.2 → 2 → 2.1 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01752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‎Roll-up‎ משוקלל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התקדמות = Σ⁦(‎progress‎ × ‎hours‎)⁩ / Σ⁦(‎hours‎)⁩.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ממוצע פשוט — שווה לפי גודל המשימה.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663440"/>
            <a:ext cx="10972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‎Roll-up‎ ‎bars‎ בגאנט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פסי אב מציגים ‎summary‎ של ה-‎node‎ כולו: תאריך מינימלי של ‎leaf‎, תאריך מקסימלי של ‎leaf‎ וממוצע התקדמות משוקלל. לחיצה על ‎node‎ פותחת פופאפ עם משימות / הושלמו / חסומות / באיחור / שעות / תוצר.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פרויקטים — 4 תצוגות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— 4 views per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194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רשימה · ‎List‎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עם ‎sortable‎ ‎columns‎: שם, אחראי, סטטוס, תאריך, התקדמות ועדיפות.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קנבן · ‎Kanban‎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עמודות: ‎Not‎ ‎Started‎ / ‎In‎ ‎Progress‎ / ‎Review‎ / ‎Done.‎ גרירה ושחרור עם @‎dnd-kit.‎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גאנט · ‎Gantt‎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‎AdvancedGantt‎ עם נתיב קריטי, אבני דרך, חוצץ זמן וייצוא ל-‎Excel/PDF.‎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023360"/>
            <a:ext cx="109728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· ‎Calendar‎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5262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‎Calendar‎ ‎grid‎ ‎month‎ ‎view‎ עם משימות צבעוניות לפי עדיפות.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אינטגרציה מלאה עם ‎Google‎ ‎Calendar‎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Google Calendar Sync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PMO++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משימות · אבני דרך · פגישות</a:t>
            </a:r>
            <a:endParaRPr lang="he-IL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783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⇄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48640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64592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Calendar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Reminders · Attendees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109728" cy="1554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Push: PMO++ ⟵ Google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משימה חדשה או עדכון סטטוס יוצרים אוטומטית אירוע ביומן של האחראי. שינוי תאריך — עדכון האירוע.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10896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Pull: Google ⟵ PMO++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6118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‎Webhook‎ ב-/‎api/webhooks/google-calendar‎ קולט ‎push‎ ‎notifications.‎ אירועים מסומנים כפגישות ביומן הפרויקט.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54880"/>
            <a:ext cx="109728" cy="1645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OAuth 2.0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2578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התחברות ‎Google‎ רגילה. ה-‎scope‎ הוא ‎calendar.events.‎ ה-‎token‎ נשמר ב-‎DB‎ מוצפן. רענון אוטומטי.</a:t>
            </a:r>
            <a:endParaRPr lang="he-IL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7548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754880"/>
            <a:ext cx="10972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אירועי דמו מסונכרנים</a:t>
            </a:r>
            <a:endParaRPr lang="he-IL" sz="1400" dirty="0"/>
          </a:p>
        </p:txBody>
      </p:sp>
      <p:sp>
        <p:nvSpPr>
          <p:cNvPr id="30" name="Text 28"/>
          <p:cNvSpPr/>
          <p:nvPr/>
        </p:nvSpPr>
        <p:spPr>
          <a:xfrm>
            <a:off x="6446520" y="5257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דדליין פרסום הבריף · ועדת בחינת הצעות · בדיקות ‎UAT‎ · בחירת ספק זוכה · סקירת תחזוקה רבעונית (חוזרת) · חוזה סופי.</a:t>
            </a:r>
            <a:endParaRPr lang="he-IL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סיכונים פרואקטיבי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 חסומה בהמתנה ל-‎dependency‎</a:t>
            </a:r>
            <a:endParaRPr lang="he-IL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Overdue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עברה את ‎plannedEnd‎ ולא הושלמה</a:t>
            </a:r>
            <a:endParaRPr lang="he-IL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Effort Overrun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‎actualHours‎ גדול מ-‎estimateHours‎ × 1.5</a:t>
            </a:r>
            <a:endParaRPr lang="he-IL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 Slip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פיגור גדל בשבועיים רצופים</a:t>
            </a:r>
            <a:endParaRPr lang="he-IL" sz="9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Not Started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29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 קריטית שלא התחילה תוך 5 ימים</a:t>
            </a:r>
            <a:endParaRPr lang="he-IL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83280"/>
            <a:ext cx="109728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חיזוי</a:t>
            </a:r>
            <a:endParaRPr lang="he-IL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886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‎Velocity‎ ‎actual‎ מול ‎required‎ + ממוצע סליפ — ‎forecast‎ ‎end‎ ‎date.‎</a:t>
            </a:r>
            <a:endParaRPr lang="he-IL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383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38328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אפקט שרשרת</a:t>
            </a:r>
            <a:endParaRPr lang="he-IL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886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‎BFS‎ על גרף תלויות — מספר משימות מושפעות, מתוכן בנתיב קריטי, וימי ‎cascade.‎</a:t>
            </a:r>
            <a:endParaRPr lang="he-IL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84632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תכנית גידור</a:t>
            </a:r>
            <a:endParaRPr lang="he-IL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3492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קטגוריות פעולה: ‎Resource‎ / ‎Schedule‎ / ‎Scope‎ / ‎Process‎ / ‎Escalation.‎ שיוך מחדש חכם: ‎skill‎ ‎match‎ ⁦(40%)⁩ + ‎availability‎ ⁦(35%)⁩ + ‎performance‎ ⁦(25%)⁩.</a:t>
            </a:r>
            <a:endParaRPr lang="he-IL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מרכז ‎AI‎ — ‎Sidekick‎ + תכנית גידור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Center — Sidekick + Mitigation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46634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Sidekick (Chat)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צ׳אט מבוסס ‎Google‎ ‎Gemini‎ 2.5 ‎Flash.‎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‎Context‎ מלא לפי תפקיד המשתמש: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‎Mock‎ ‎data‎ של הארגון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‎Live‎ ‎snapshot‎ (משימות, ‎FTE‎, סיכונים)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‎App‎ ‎facts‎ (15 דפים, 17 ‎KPIs‎)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‎Knowledge‎ ‎base‎ 42+ ‎Q‎&amp;‎A‎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‎Reply‎ ‎guidelines‎: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‎Lead‎ ‎with‎ ‎conclusion‎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‎Use‎ ‎numbers‎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‎Give‎ ‎action‎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 מלאות: ‎he/en/ru/fr/es‎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4663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תכנית גידור ⁦(‎Mitigation‎ ‎Plan‎)⁩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‎Header‎ ‎gradient‎ + 2 ‎stats‎: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סך פעולות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פעולות מיידיות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‎Smart‎ ‎Reassignment‎: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‎Match‎ ‎score‎ 0-100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אבטרים ‎From/To‎ + חץ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‎Reasoning‎ כ-‎badges‎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‎Mitigation‎ ‎Strategies‎: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‎Severity‎ + ‎risk‎ ‎type‎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‎Preferred‎ ‎action‎ ⭐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‎Apply‎ ‎button‎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‎Early‎ ‎Warnings‎ — אזהרות אמבר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עוזר אישי קולי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Personal Assistant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194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‎STT‎ — דיבור לטקסט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 דו-מצבית: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‎Web‎ ‎Speech‎ ‎API‎ ⁦(‎Chrome‎ / ‎Edge‎)⁩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‎MediaRecorder‎ ‎fallback‎ ⁦(‎iOS‎ ‎Safari‎ / ‎Firefox‎)⁩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‎Interim‎ ‎results‎ בזמן אמת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‎TTS‎ — טקסט לדיבור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 עם בחירת קול אוטומטית.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רייטינג איכות: ‎Google‎ / ‎Neural‎ &gt; ‎Microsoft‎ ‎Online‎ &gt; ‎Apple‎ &gt; ‎local.‎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‎Keep-alive‎ ‎ping‎ ⁦(‎Chrome‎ 15‎s‎ ‎cutoff‎ ‎fix‎)⁩.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הגיית קיצורים נכונה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לו״ז → לוז ⁦(‎luz‎)⁩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מנכ״ל → מנכל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סמנכ״ל → סמנכל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צה״ל → צהל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ת״א → תל אביב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וכו׳ → וכולי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‎Smart‎ ‎quotes‎ ו-‎Hebrew‎ ‎gershayim‎ ׳ ״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31920"/>
            <a:ext cx="109728" cy="2377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מקטעי 350 תווים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43484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הסרת תקרת 500 התווים הישנה.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תשובה נחתכת בגבול משפט (. ! ?) ומוקראת ברצף.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‎SPEAK_TOKEN‎ — לחיצה על מיקרופון מבטלת כל מקטע בתור.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שיחה: האזנה אוטומטית אחרי תשובה.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דוחות וייצוא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 ‎PDF‎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‎ExportPdfButton‎ — ‎window.print‎() עם ‎print‎ ‎stylesheet‎ מותאם.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הסתרת ‎sidebar‎ / ‎topbar‎ / כפתורים צפים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@‎page‎ { ‎size‎: ‎A4‎ ‎landscape‎ }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‎print-color-adjust‎: ‎exact‎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‎Toast‎ ‎notifications‎ (מכין → מוכן)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 ‎Excel/CSV‎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‎lib/gantt/export.ts‎: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‎CSV‎ עם ‎BOM‎ ⁦(\‎uFEFF‎)⁩ ל-‎UTF-8‎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תאימות עברית מלאה ב-‎Excel‎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אחת הדרכים היחידות שעובדות עם ‎RTL‎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1480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מבני דוחות</a:t>
            </a:r>
            <a:endParaRPr lang="he-IL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‎Gantt‎ ‎full-width‎ (טבלת ‎WBS‎ + תרשים)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דשבורד ‎KPI‎ עם בורר תפקיד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רשימת משימות עם פילטרים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כרטיסי פרויקטים עם ‎health‎ ‎score‎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רשימת סיכונים + ‎matrix‎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יומן פעילות ⁦(‎Activity‎ ‎Log‎)⁩ של משתמשים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אוטומציות — בנאי ‎No-Code‎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— No-Code Builder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סוגי טריגרים</a:t>
            </a:r>
            <a:endParaRPr lang="he-IL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194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Conditions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891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תנאים אופציונליים</a:t>
            </a:r>
            <a:endParaRPr lang="he-IL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2194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פעולות (מהן 2 פעולות ‎AI‎)</a:t>
            </a:r>
            <a:endParaRPr lang="he-IL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57600"/>
            <a:ext cx="10972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49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תבניות מוכנות</a:t>
            </a:r>
            <a:endParaRPr lang="he-IL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1605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Reminder · Overdue Alert · New Risk Notification · Daily Report · Weekly Summary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2920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אופן הבנייה</a:t>
            </a:r>
            <a:endParaRPr lang="he-IL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שלבים ויזואליים: ‎Trigger‎ ← ‎Conditions‎ ← ‎Actions.‎ כרטיס סיכום סגול עם ולידציה ו-‎toast.‎ אינטגרציה עם 2 פעולות ‎AI‎ ⁦(‎summarize‎, ‎recommend‎)⁩.</a:t>
            </a:r>
            <a:endParaRPr lang="he-IL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צוות והזמנות מייל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Email Invitations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חברי צוות</a:t>
            </a:r>
            <a:endParaRPr lang="he-IL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תפקידים</a:t>
            </a:r>
            <a:endParaRPr lang="he-IL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554480"/>
            <a:ext cx="5760720" cy="32004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554480"/>
            <a:ext cx="5760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6002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📧 מייל הזמנה ⁦(‎Demo‎)⁩</a:t>
            </a:r>
            <a:endParaRPr lang="he-IL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2148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noreply@mapi.gov.il</a:t>
            </a:r>
            <a:endParaRPr lang="he-IL" sz="1000" dirty="0"/>
          </a:p>
          <a:p>
            <a:pPr rtl="1" algn="r" indent="0" marL="0">
              <a:buNone/>
            </a:pPr>
            <a:r>
              <a:rPr lang="he-IL" alt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 new.user@example.com</a:t>
            </a:r>
            <a:endParaRPr lang="he-IL" sz="1000" dirty="0"/>
          </a:p>
          <a:p>
            <a:pPr rtl="1" algn="r" indent="0" marL="0">
              <a:buNone/>
            </a:pPr>
            <a:r>
              <a:rPr lang="he-IL" alt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הזמנה ל-PMO++ של המרכז למיפוי</a:t>
            </a:r>
            <a:endParaRPr lang="he-IL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9260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שלום,</a:t>
            </a:r>
            <a:endParaRPr lang="he-IL" sz="11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הוזמנת להצטרף ל-‎PMO++‎ של המרכז למיפוי ישראל.</a:t>
            </a:r>
            <a:endParaRPr lang="he-IL" sz="1100" dirty="0"/>
          </a:p>
          <a:p>
            <a:pPr rtl="1" algn="r" indent="0" marL="0">
              <a:buNone/>
            </a:pPr>
            <a:endParaRPr lang="he-IL" sz="11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תפקיד: מנהל פרויקט</a:t>
            </a:r>
            <a:endParaRPr lang="he-IL" sz="11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חטיבה: ‎IT‎ · אגף: יישומים</a:t>
            </a:r>
            <a:endParaRPr lang="he-IL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39776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אישור הזמנה</a:t>
            </a:r>
            <a:endParaRPr lang="he-IL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834640"/>
            <a:ext cx="109728" cy="19202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טופס הזמנת חבר</a:t>
            </a:r>
            <a:endParaRPr lang="he-IL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‎InviteMemberDialog‎: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שם מלא (חובה)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תפקיד (10 אופציות)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חטיבה (8 אופציות)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אגף (8 אופציות)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טלפון (חובה)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מייל (חובה)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אפשרות "אחר…" לכל ‎dropdown‎</a:t>
            </a:r>
            <a:endParaRPr lang="he-IL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4632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תוכן המייל ושליחה</a:t>
            </a:r>
            <a:endParaRPr lang="he-IL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53492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המייל נשלח אוטומטית עם שם המזמין, תפקיד מותאם וקישור הצטרפות חתום. במצב הדגמה הנוכחי — ‎Toast‎ מציין שהמייל היה נשלח. בייצור: ‎SendGrid‎ / ‎SMTP‎ דרך ‎Vercel‎ ‎Functions‎ עם תבנית ‎HTML‎ מותאמת + תרגום ל-5 שפות.</a:t>
            </a:r>
            <a:endParaRPr lang="he-IL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מערכת — 6 לשוניות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6 tabs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משתמשים</a:t>
            </a:r>
            <a:endParaRPr lang="he-IL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+ חיפוש + סינון + הוספה/עריכה/מחיקה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737360"/>
            <a:ext cx="109728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הרשאות</a:t>
            </a:r>
            <a:endParaRPr lang="he-IL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תפקידים × 12 הרשאות</a:t>
            </a:r>
            <a:endParaRPr lang="he-IL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737360"/>
            <a:ext cx="109728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סוגי פריטים</a:t>
            </a:r>
            <a:endParaRPr lang="he-IL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סוגים מובנים + צבע + ‎emoji‎</a:t>
            </a:r>
            <a:endParaRPr lang="he-IL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23360"/>
            <a:ext cx="109728" cy="2103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שיוך היררכי</a:t>
            </a:r>
            <a:endParaRPr lang="he-IL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העברת פרויקטים/משימות בין רמות</a:t>
            </a:r>
            <a:endParaRPr lang="he-IL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4023360"/>
            <a:ext cx="10972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טבלת הרשאות</a:t>
            </a:r>
            <a:endParaRPr lang="he-IL" sz="1600" dirty="0"/>
          </a:p>
        </p:txBody>
      </p:sp>
      <p:sp>
        <p:nvSpPr>
          <p:cNvPr id="30" name="Text 28"/>
          <p:cNvSpPr/>
          <p:nvPr/>
        </p:nvSpPr>
        <p:spPr>
          <a:xfrm>
            <a:off x="46177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משתמשים × 12 הרשאות (‎X‎ מתוך 12)</a:t>
            </a:r>
            <a:endParaRPr lang="he-IL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023360"/>
            <a:ext cx="10972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פעילות</a:t>
            </a:r>
            <a:endParaRPr lang="he-IL" sz="1600" dirty="0"/>
          </a:p>
        </p:txBody>
      </p:sp>
      <p:sp>
        <p:nvSpPr>
          <p:cNvPr id="35" name="Text 33"/>
          <p:cNvSpPr/>
          <p:nvPr/>
        </p:nvSpPr>
        <p:spPr>
          <a:xfrm>
            <a:off x="84124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פעילויות + סטטיסטיקות + ציר זמן</a:t>
            </a:r>
            <a:endParaRPr lang="he-IL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‎RBAC‎: נראות שונה לפי תפקיד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Visibility Matrix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200400" cy="502920"/>
          </a:xfrm>
          <a:prstGeom prst="rect">
            <a:avLst/>
          </a:prstGeom>
          <a:solidFill>
            <a:srgbClr val="0D3A72"/>
          </a:solidFill>
          <a:ln w="12700">
            <a:solidFill>
              <a:srgbClr val="0D3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הרשאה</a:t>
            </a:r>
            <a:endParaRPr lang="he-IL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645920"/>
            <a:ext cx="157276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21808" y="1645920"/>
            <a:ext cx="1572768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94576" y="1645920"/>
            <a:ext cx="157276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67344" y="1645920"/>
            <a:ext cx="157276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40112" y="1645920"/>
            <a:ext cx="157276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0112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14884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1488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כללית</a:t>
            </a:r>
            <a:endParaRPr lang="he-IL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21808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94576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67344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040112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40112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2478024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4780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משימה</a:t>
            </a:r>
            <a:endParaRPr lang="he-IL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21808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94576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4576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467344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67344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040112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40112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280720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280720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עריכת משימה</a:t>
            </a:r>
            <a:endParaRPr lang="he-IL" sz="1000" dirty="0"/>
          </a:p>
        </p:txBody>
      </p:sp>
      <p:sp>
        <p:nvSpPr>
          <p:cNvPr id="45" name="Shape 43"/>
          <p:cNvSpPr/>
          <p:nvPr/>
        </p:nvSpPr>
        <p:spPr>
          <a:xfrm>
            <a:off x="3749040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0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321808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94576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467344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67344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0040112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40112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48640" y="3136392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31363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מחיקת משימה</a:t>
            </a:r>
            <a:endParaRPr lang="he-IL" sz="1000" dirty="0"/>
          </a:p>
        </p:txBody>
      </p:sp>
      <p:sp>
        <p:nvSpPr>
          <p:cNvPr id="57" name="Shape 55"/>
          <p:cNvSpPr/>
          <p:nvPr/>
        </p:nvSpPr>
        <p:spPr>
          <a:xfrm>
            <a:off x="3749040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321808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1808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894576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94576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467344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67344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10040112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40112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48640" y="346557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34655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פרויקט</a:t>
            </a:r>
            <a:endParaRPr lang="he-IL" sz="1000" dirty="0"/>
          </a:p>
        </p:txBody>
      </p:sp>
      <p:sp>
        <p:nvSpPr>
          <p:cNvPr id="69" name="Shape 67"/>
          <p:cNvSpPr/>
          <p:nvPr/>
        </p:nvSpPr>
        <p:spPr>
          <a:xfrm>
            <a:off x="3749040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321808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894576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94576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8467344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67344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10040112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040112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548640" y="3794760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5800" y="3794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מחיקת פרויקט</a:t>
            </a:r>
            <a:endParaRPr lang="he-IL" sz="1000" dirty="0"/>
          </a:p>
        </p:txBody>
      </p:sp>
      <p:sp>
        <p:nvSpPr>
          <p:cNvPr id="81" name="Shape 79"/>
          <p:cNvSpPr/>
          <p:nvPr/>
        </p:nvSpPr>
        <p:spPr>
          <a:xfrm>
            <a:off x="3749040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49040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321808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321808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894576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94576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8467344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67344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10040112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040112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548640" y="412394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5800" y="41239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צוות</a:t>
            </a:r>
            <a:endParaRPr lang="he-IL" sz="1000" dirty="0"/>
          </a:p>
        </p:txBody>
      </p:sp>
      <p:sp>
        <p:nvSpPr>
          <p:cNvPr id="93" name="Shape 91"/>
          <p:cNvSpPr/>
          <p:nvPr/>
        </p:nvSpPr>
        <p:spPr>
          <a:xfrm>
            <a:off x="3749040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49040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5321808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321808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894576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94576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8467344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67344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10040112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040112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548640" y="4453128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85800" y="44531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תפקידים</a:t>
            </a:r>
            <a:endParaRPr lang="he-IL" sz="1000" dirty="0"/>
          </a:p>
        </p:txBody>
      </p:sp>
      <p:sp>
        <p:nvSpPr>
          <p:cNvPr id="105" name="Shape 103"/>
          <p:cNvSpPr/>
          <p:nvPr/>
        </p:nvSpPr>
        <p:spPr>
          <a:xfrm>
            <a:off x="3749040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749040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5321808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321808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6894576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894576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8467344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467344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10040112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040112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548640" y="4782312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85800" y="47823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מערכת</a:t>
            </a:r>
            <a:endParaRPr lang="he-IL" sz="1000" dirty="0"/>
          </a:p>
        </p:txBody>
      </p:sp>
      <p:sp>
        <p:nvSpPr>
          <p:cNvPr id="117" name="Shape 115"/>
          <p:cNvSpPr/>
          <p:nvPr/>
        </p:nvSpPr>
        <p:spPr>
          <a:xfrm>
            <a:off x="3749040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749040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5321808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321808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6894576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894576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3" name="Shape 121"/>
          <p:cNvSpPr/>
          <p:nvPr/>
        </p:nvSpPr>
        <p:spPr>
          <a:xfrm>
            <a:off x="8467344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467344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5" name="Shape 123"/>
          <p:cNvSpPr/>
          <p:nvPr/>
        </p:nvSpPr>
        <p:spPr>
          <a:xfrm>
            <a:off x="10040112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040112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7" name="Shape 125"/>
          <p:cNvSpPr/>
          <p:nvPr/>
        </p:nvSpPr>
        <p:spPr>
          <a:xfrm>
            <a:off x="548640" y="5111496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85800" y="511149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בדוחות</a:t>
            </a:r>
            <a:endParaRPr lang="he-IL" sz="1000" dirty="0"/>
          </a:p>
        </p:txBody>
      </p:sp>
      <p:sp>
        <p:nvSpPr>
          <p:cNvPr id="129" name="Shape 127"/>
          <p:cNvSpPr/>
          <p:nvPr/>
        </p:nvSpPr>
        <p:spPr>
          <a:xfrm>
            <a:off x="3749040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49040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1" name="Shape 129"/>
          <p:cNvSpPr/>
          <p:nvPr/>
        </p:nvSpPr>
        <p:spPr>
          <a:xfrm>
            <a:off x="5321808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321808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6894576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894576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5" name="Shape 133"/>
          <p:cNvSpPr/>
          <p:nvPr/>
        </p:nvSpPr>
        <p:spPr>
          <a:xfrm>
            <a:off x="8467344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467344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7" name="Shape 135"/>
          <p:cNvSpPr/>
          <p:nvPr/>
        </p:nvSpPr>
        <p:spPr>
          <a:xfrm>
            <a:off x="10040112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040112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39" name="Shape 137"/>
          <p:cNvSpPr/>
          <p:nvPr/>
        </p:nvSpPr>
        <p:spPr>
          <a:xfrm>
            <a:off x="548640" y="544068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85800" y="54406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אוטומציות</a:t>
            </a:r>
            <a:endParaRPr lang="he-IL" sz="1000" dirty="0"/>
          </a:p>
        </p:txBody>
      </p:sp>
      <p:sp>
        <p:nvSpPr>
          <p:cNvPr id="141" name="Shape 139"/>
          <p:cNvSpPr/>
          <p:nvPr/>
        </p:nvSpPr>
        <p:spPr>
          <a:xfrm>
            <a:off x="3749040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749040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43" name="Shape 141"/>
          <p:cNvSpPr/>
          <p:nvPr/>
        </p:nvSpPr>
        <p:spPr>
          <a:xfrm>
            <a:off x="5321808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321808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45" name="Shape 143"/>
          <p:cNvSpPr/>
          <p:nvPr/>
        </p:nvSpPr>
        <p:spPr>
          <a:xfrm>
            <a:off x="6894576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894576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47" name="Shape 145"/>
          <p:cNvSpPr/>
          <p:nvPr/>
        </p:nvSpPr>
        <p:spPr>
          <a:xfrm>
            <a:off x="8467344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467344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49" name="Shape 147"/>
          <p:cNvSpPr/>
          <p:nvPr/>
        </p:nvSpPr>
        <p:spPr>
          <a:xfrm>
            <a:off x="10040112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040112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51" name="Shape 149"/>
          <p:cNvSpPr/>
          <p:nvPr/>
        </p:nvSpPr>
        <p:spPr>
          <a:xfrm>
            <a:off x="548640" y="5769864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85800" y="57698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ל-‎AI‎</a:t>
            </a:r>
            <a:endParaRPr lang="he-IL" sz="1000" dirty="0"/>
          </a:p>
        </p:txBody>
      </p:sp>
      <p:sp>
        <p:nvSpPr>
          <p:cNvPr id="153" name="Shape 151"/>
          <p:cNvSpPr/>
          <p:nvPr/>
        </p:nvSpPr>
        <p:spPr>
          <a:xfrm>
            <a:off x="3749040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749040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5321808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321808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7" name="Shape 155"/>
          <p:cNvSpPr/>
          <p:nvPr/>
        </p:nvSpPr>
        <p:spPr>
          <a:xfrm>
            <a:off x="6894576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894576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9" name="Shape 157"/>
          <p:cNvSpPr/>
          <p:nvPr/>
        </p:nvSpPr>
        <p:spPr>
          <a:xfrm>
            <a:off x="8467344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467344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61" name="Shape 159"/>
          <p:cNvSpPr/>
          <p:nvPr/>
        </p:nvSpPr>
        <p:spPr>
          <a:xfrm>
            <a:off x="10040112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0040112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63" name="Text 161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‎Role‎ ‎Switcher‎ בסרגל מאפשר החלפת תפקיד מיידית — תפריט הניווט (15 פריטים) מסונן, כפתורים מוסתרים ודפים מוצגים/חסומים לפי תפקיד המשתמש הפעיל.</a:t>
            </a:r>
            <a:endParaRPr lang="he-IL" sz="1100" dirty="0"/>
          </a:p>
        </p:txBody>
      </p:sp>
      <p:sp>
        <p:nvSpPr>
          <p:cNvPr id="164" name="Shape 16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התראות ומיילים למשתמש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Email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‎SendGrid‎ / ‎SMTP‎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תבנית ‎HTML‎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</a:t>
            </a:r>
            <a:endParaRPr lang="he-IL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🔔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4340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פעמון בסרגל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רשימת התראות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סימון נקרא</a:t>
            </a:r>
            <a:endParaRPr lang="he-IL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13816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אירוע ב-‎Google‎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הזמנת משתתפים</a:t>
            </a:r>
            <a:endParaRPr lang="he-IL" sz="10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he-IL" alt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תזכורת אוטומטית</a:t>
            </a:r>
            <a:endParaRPr lang="he-IL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74720"/>
            <a:ext cx="109728" cy="29260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מיילים שנשלחים אוטומטית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הזמנת חבר צוות חדש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שיוך משימה למשתמש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משימה באיחור (סיכון ‎Overdue‎)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תזכורת לפני תאריך יעד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סיכום יומי / שבועי לפי בקשה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אישור הצטרפות לפרויקט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דיווח על סיכון קריטי חדש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דוחות מתוזמנים מאוטומציות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4747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474720"/>
            <a:ext cx="109728" cy="2926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ניהול העדפות התראה</a:t>
            </a:r>
            <a:endParaRPr lang="he-IL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977640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משתמש קובע אילו אירועים יישלחו במייל ואילו רק בתוך האפליקציה.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בדף ‎Settings‎: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‎Email‎ ‎digest‎ (יומי / שבועי / מיידי)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ערוצים מועדפים לכל סוג אירוע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השתקה זמנית ⁦(‎Do-not-disturb‎)⁩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שפת המייל (5 שפות)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פורמט ‎HTML‎ או טקסט</a:t>
            </a:r>
            <a:endParaRPr lang="he-IL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רב-לשוניות מלאה — 5 שפות + ‎RTL‎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— 5 languages + RTL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🇮🇱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עברית</a:t>
            </a:r>
            <a:endParaRPr lang="he-IL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🇬🇧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🇷🇺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120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Русский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🇫🇷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406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Français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🇪🇸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692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Español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840480"/>
            <a:ext cx="109728" cy="1280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txt(locale, {he,en,ru,fr,es})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343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‎Helper‎ מרכזי. 346 דפוסי ‎isHe‎ ב-18 קבצים הומרו ל-‎txt‎().</a:t>
            </a:r>
            <a:endParaRPr lang="he-IL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840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84048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‎RTL‎ מלא</a:t>
            </a:r>
            <a:endParaRPr lang="he-IL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343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‎Logical‎ ‎properties‎: ‎ms‎ / ‎me‎ / ‎ps‎ / ‎pe‎ / ‎start‎ / ‎end.‎ הגאנט בנוי ידנית כדי לתמוך ב-‎RTL.‎</a:t>
            </a:r>
            <a:endParaRPr lang="he-IL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212080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Locale routing (next-intl)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‎localePrefix‎: ‎as-needed‎ (עברית = /, אנגלית = /‎en‎). זיהוי שפה מטקסט: עברית / ‎Cyrillic‎ / ‎Latin‎ → ‎locale‎ → ברירת מחדל עברית.</a:t>
            </a:r>
            <a:endParaRPr lang="he-IL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מובייל ו-‎PWA‎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Progressive Web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תפריט נשלף ⁦(‎Sheet‎)⁩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‎Radix‎ ‎Sheet‎ ‎primitive.‎ תפריט המבורגר ☰ במובייל. ניווט ‎slide-in‎ ‎RTL.‎ ה-‎Topbar‎ מצמיד ‎hamburger‎ ‎button.‎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737360"/>
            <a:ext cx="109728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 targets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כפתור ‎min-h-‎[44‎px‎] ‎min-w-‎[44‎px‎] לפי ‎Apple‎ ‎HIG.‎ ‎inputs‎ בעלי ‎font-size‎: 16‎px‎ למניעת ‎zoom‎ ב-‎iOS.‎ ‎onFocus‎ ‎scroll‎ ‎into‎ ‎view.‎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 Manifest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עברי. ‎theme‎ ‎color‎ כחול ‎Mapi.‎ ‎standalone‎ ‎mode.‎ ‎icons‎ 192/512 ‎PNG.‎ ‎apple-touch-icon.‎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התקנה: ‎Chrome‎ → ‎Install‎ ‎app‎, ‎Safari‎ → ‎Add‎ ‎to‎ ‎Home‎ ‎Screen.‎</a:t>
            </a:r>
            <a:endParaRPr lang="he-IL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3192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‎Viewport‎ ו-‎safe‎ ‎area‎</a:t>
            </a:r>
            <a:endParaRPr lang="he-IL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434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‎viewportFit‎: ‎cover‎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‎env‎⁦(‎safe-area-inset-‎*)⁩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-‎webkit-text-size-adjust‎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‎touch-action‎: ‎manipulation‎</a:t>
            </a: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endParaRPr lang="he-IL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רגישות לפדינג של ‎notch‎ / ‎camera‎ ‎punch.‎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‎PMO++‎ · המרכז למיפוי ישראל · 2026</a:t>
            </a:r>
            <a:endParaRPr lang="he-IL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טכנולוגיות ובסיס נתונים</a:t>
            </a:r>
            <a:endParaRPr lang="he-IL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Database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‎Next.js‎ 15.5 ‎App‎ ‎Router‎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‎React‎ 19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‎TypeScript‎ ‎strict‎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‎Tailwind‎ ‎CSS‎ 3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‎shadcn/ui‎ (ידני)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‎Radix‎ ‎UI‎ ‎primitives‎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‎Recharts‎ (גרפים)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‎dnd-kit‎ ⁦(‎Kanban‎)⁩</a:t>
            </a:r>
            <a:endParaRPr lang="he-IL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‎Backend‎ ואינטגרציות</a:t>
            </a:r>
            <a:endParaRPr lang="he-IL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‎Next.js‎ ‎API‎ ‎Routes‎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‎Node.js‎ ‎runtime‎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‎next-intl‎ (5 שפות)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‎CASL‎ ⁦(‎RBAC‎)⁩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‎Google‎ ‎Calendar‎ ‎API‎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‎Email‎: ‎SendGrid‎ / ‎SMTP‎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‎Webhooks‎ דו-כיווניים</a:t>
            </a:r>
            <a:endParaRPr lang="he-IL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22402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‎Google‎ ‎Gemini‎ 2.5 ‎Flash‎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‎Anthropic‎ ‎Claude‎ (אופציונלי)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‎Heuristic‎ ‎intent‎ ‎parser‎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‎App‎ ‎facts‎ + ‎live‎ ‎snapshot‎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‎Knowledge‎ ‎base‎ ⁦(42+ ‎Q‎&amp;‎A‎)⁩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‎Web‎ ‎Speech‎ ‎API‎ ⁦(‎STT‎)⁩</a:t>
            </a:r>
            <a:endParaRPr lang="he-IL" sz="12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‎Speech‎ ‎Synthesis‎ ⁦(‎TTS‎)⁩</a:t>
            </a:r>
            <a:endParaRPr lang="he-IL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Engine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— schema TypeScript-first, type-safe, Edge-compatible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טבלאות מוכנות ב-‎lib/db/schema.ts‎: ‎portfolios‎, ‎programs‎, ‎projects‎, ‎wbs_nodes‎, ‎tasks‎, ‎task_dependencies‎, ‎users‎, ‎project_members‎, ‎comments‎, ‎audit_log‎, ‎attachments‎, ‎automations‎, ‎ai_usage‎, ‎ai_recommendations‎, ‎notifications‎, ‎calendar_events‎, ‎item_types‎, ‎sessions‎</a:t>
            </a:r>
            <a:endParaRPr lang="he-IL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ייצור: ‎Neon‎ ‎Postgres‎ / ‎Supabase‎ / ‎Vercel‎ ‎Postgres‎ — חיבור דרך ‎drizzle‎() ‎client.‎ פיתוח: ‎Mock‎ ‎data‎ ‎layer‎ ⁦(‎lib/db/mock-data.ts‎)⁩ עם נתוני ‎Salesforce‎ אמיתיים מהאקסל.</a:t>
            </a:r>
            <a:endParaRPr lang="he-IL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‎Hosting‎: ‎Vercel‎ · ‎Source‎: ‎GitHub‎ · ‎CI/CD‎: ‎auto‎ ‎deploy‎ ‎on‎ ‎push‎ ‎to‎ ‎main‎ · ‎OAuth‎ 2.0 ל-‎Google‎ ‎Calendar‎</a:t>
            </a:r>
            <a:endParaRPr lang="he-IL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המרכז למיפוי ישראל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PMO++ — פלטפורמת ניהול פרויקטים פנים-ארגונית</dc:title>
  <dc:subject>PptxGenJS Presentation</dc:subject>
  <dc:creator>PMO++</dc:creator>
  <cp:lastModifiedBy>PMO++</cp:lastModifiedBy>
  <cp:revision>1</cp:revision>
  <dcterms:created xsi:type="dcterms:W3CDTF">2026-06-20T20:07:54Z</dcterms:created>
  <dcterms:modified xsi:type="dcterms:W3CDTF">2026-06-20T20:07:54Z</dcterms:modified>
</cp:coreProperties>
</file>