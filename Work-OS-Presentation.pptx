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5FA8">
              <a:alpha val="30000"/>
            </a:srgbClr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1E5FA8">
              <a:alpha val="20000"/>
            </a:srgbClr>
          </a:solidFill>
          <a:ln w="12700">
            <a:solidFill>
              <a:srgbClr val="1E5FA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66360" y="73152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המרכז למיפוי ישראל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OS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ניהול פרויקטים פנים-ארגונית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Project Management Platform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66360" y="5440680"/>
            <a:ext cx="1828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אפריל 2026 · April 2026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מבוא וסקירת פונקציונליות · 15 שקפים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האתגר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- Why we built this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הבעיות עם מערכות ניהול הפרויקטים הקיימות בשוק: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64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539728" y="2194560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27080" y="24003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27080" y="2400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כשלי RTL בעברית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6517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 ו-ClickUp סובלות מבאגים קריטיים בתמיכת עברית בתיאורי משימות ובתגובות.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1064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539728" y="3200400"/>
            <a:ext cx="73152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27080" y="340614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27080" y="34061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עלויות גבוהות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$160+ למשתמש. Monday העלתה ב-18% לאחרונה. עלויות לא מקובלות לארגוני ממשל.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64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1539728" y="420624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27080" y="44119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27080" y="4411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3434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אין שילוב Agile/Waterfall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46634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מערכות נעולות למתודולוגיה אחת. אין גמישות אמיתית לפרויקטים היברידיים.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64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1539728" y="5212080"/>
            <a:ext cx="73152" cy="8686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27080" y="5417820"/>
            <a:ext cx="457200" cy="45720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27080" y="5417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53492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לא Proactive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" y="5669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זיהוי אוטומטי של סיכונים, חסימות וחריגות. הכל ידני.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הפתרון: Work 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meets execution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פלטפורמה אחת. כל הפרויקטים. עברית מלאה. AI חכם.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6576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68880"/>
            <a:ext cx="365760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2743200"/>
            <a:ext cx="914400" cy="91440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⚡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אסטרטגיה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היררכיית WBS מלאה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תצוגת פורטפוליו ארגונית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 Actual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מעקב SLA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468880"/>
            <a:ext cx="36576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2468880"/>
            <a:ext cx="365760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2743200"/>
            <a:ext cx="914400" cy="9144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🚀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34340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ביצוע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3434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45720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עם תמיכת RTL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Drag &amp; Drop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יומן ולוח שנה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אינטראקטיבי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2468880"/>
            <a:ext cx="36576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2468880"/>
            <a:ext cx="365760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0" y="2743200"/>
            <a:ext cx="914400" cy="9144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✨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13816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אינטליגנציה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381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5720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זיהוי סיכונים אוטומטי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Sidekick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Workers</a:t>
            </a:r>
            <a:endParaRPr lang="en-US" sz="13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סנכרון Google Calendar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ארכיטקטורה טכנולוגית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2697480" cy="1097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 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 + App Router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78308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783080"/>
            <a:ext cx="2697480" cy="109728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1D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19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Library + Server Components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783080"/>
            <a:ext cx="2697480" cy="109728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178C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TypeScript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codebase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178308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783080"/>
            <a:ext cx="269748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057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35440" y="24231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Tailwind CSS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35440" y="31089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 + RTL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160520"/>
            <a:ext cx="2697480" cy="109728"/>
          </a:xfrm>
          <a:prstGeom prst="rect">
            <a:avLst/>
          </a:prstGeom>
          <a:solidFill>
            <a:srgbClr val="C5F74F"/>
          </a:solidFill>
          <a:ln w="12700">
            <a:solidFill>
              <a:srgbClr val="C5F7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4800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5F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Drizzle ORM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520" y="5486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Postgres queries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83280" y="416052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83280" y="4160520"/>
            <a:ext cx="2697480" cy="109728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66160" y="4800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3679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566160" y="5486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416052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4160520"/>
            <a:ext cx="2697480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4800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AI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400800" y="5486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 + chat assistant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052560" y="416052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052560" y="4160520"/>
            <a:ext cx="2697480" cy="1097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0" y="4434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235440" y="4800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Vercel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235440" y="5486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מבנה היררכי - WBS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היררכיה של 8 רמות מקנה שליטה מלאה - מהאסטרטגיה הארגונית עד תת-המשימה הקטנה ביותר: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0" y="2185416"/>
            <a:ext cx="1371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0" y="2185416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0" y="2185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0" y="2148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פורטפוליו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09760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אוסף של תוכניות אסטרטגיות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0" y="2734056"/>
            <a:ext cx="1371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01400" y="2734056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0140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87000" y="26974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תוכנית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98280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697480"/>
            <a:ext cx="8732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קבוצת פרויקטים תחת יוזמה משותפת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30000" y="3282696"/>
            <a:ext cx="13716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9920" y="3282696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0" y="3282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0" y="3246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פרויקט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2461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יוזמה עם תאריכי התחלה וסיום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430000" y="3831336"/>
            <a:ext cx="13716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78440" y="3831336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78440" y="3831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64040" y="3794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יעד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75320" y="3794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794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 מדידה ספציפית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1430000" y="4379976"/>
            <a:ext cx="13716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66960" y="4379976"/>
            <a:ext cx="411480" cy="4114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66960" y="43799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052560" y="4343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אבן דרך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863840" y="4343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343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נקודת ציון משמעותית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1430000" y="4928616"/>
            <a:ext cx="1371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55480" y="4928616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55480" y="49286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641080" y="4892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פעילות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452360" y="4892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4892040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חבילת עבודה עם תוצר (Deliverable)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1430000" y="5477256"/>
            <a:ext cx="1371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0" y="5477256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0" y="5477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29600" y="5440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משימה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040880" y="5440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54406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יחידת עבודה אישית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1430000" y="6025896"/>
            <a:ext cx="13716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32520" y="6025896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32520" y="6025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818120" y="5989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תת-משימה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629400" y="5989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8640" y="5989320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פירוט של משימה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עמוד הבית: המשימות שלי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landing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182880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תצוגה אישית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המשימות הפתוחות שלך, ממוינות לפי דחיפות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0" y="260604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סטטוסים צבעוניים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926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ירוק/צהוב/אדום לפי זמן נותר עד הדדליין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0" y="338328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טאבים סינון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703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הכל / בביצוע / לא התחילו / חסומות / באיחור / לפי פרויקט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0" y="416052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יצירת משימה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480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כפתור + פותח חלון יצירה מהיר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0" y="493776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0" y="4937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סטטיסטיקות אישיות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5257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cards: סך פתוחות / בביצוע / באיחור / השבוע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72800" y="5715000"/>
            <a:ext cx="548640" cy="5486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0" y="5715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00800" y="5715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ההקצאה שלי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6035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% לכל פרויקט עם אזהרת הקצאת יתר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1828800"/>
            <a:ext cx="5486400" cy="4480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19659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120" y="19659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8720" y="19659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2194560"/>
            <a:ext cx="530352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שלום, משתמש 👋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77240" y="2834640"/>
            <a:ext cx="1188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7724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סך פתוחות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57400" y="2834640"/>
            <a:ext cx="1188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5740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205740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בביצוע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37560" y="2834640"/>
            <a:ext cx="1188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333756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באיחור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2834640"/>
            <a:ext cx="1188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2880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61772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השבוע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77240" y="3794760"/>
            <a:ext cx="1188720" cy="320040"/>
          </a:xfrm>
          <a:prstGeom prst="rect">
            <a:avLst/>
          </a:prstGeom>
          <a:solidFill>
            <a:srgbClr val="1E5FA8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הכל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057400" y="3794760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בביצוע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337560" y="3794760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3756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באיחור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17720" y="3794760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חסומות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7240" y="4297680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" y="4297680"/>
            <a:ext cx="54864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פתרון חסימת אינטגרציה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14400" y="4544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איחור 40 ימים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7240" y="4892040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4892040"/>
            <a:ext cx="54864" cy="502920"/>
          </a:xfrm>
          <a:prstGeom prst="rect">
            <a:avLst/>
          </a:prstGeom>
          <a:solidFill>
            <a:srgbClr val="1E5F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4937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פרסום הבריף לספקים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14400" y="5138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ימים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77240" y="5486400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7240" y="548640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4400" y="5532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סקירת תחזוקה רבעונית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14400" y="5733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ימים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תצוגות פרויקט מרובות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ways to see the same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55321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109728" cy="22402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2148840"/>
            <a:ext cx="777240" cy="7772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רשימה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טבלה מסודרת עם כל הפרטים: סטטוס, אחראי, תאריכים, התקדמות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5321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783080"/>
            <a:ext cx="109728" cy="2240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0" y="214884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🗂️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53796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קנבן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53796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063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עמודות לפי סטטוס עם Drag &amp; Drop. Workflow ויזואלי קלאסי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55321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206240"/>
            <a:ext cx="10972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457200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22960" y="4572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גאנט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2960" y="5074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486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ציר זמן עם תלויות. תמיכת RTL מלאה - בניגוד למתחרים!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4206240"/>
            <a:ext cx="55321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4206240"/>
            <a:ext cx="109728" cy="2240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89920" y="4572000"/>
            <a:ext cx="777240" cy="7772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537960" y="4572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יומן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537960" y="5074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37960" y="5486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תצוגה חודשית עם משימות לפי תאריכי דדליין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מנוע זיהוי סיכונים AI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risk detection engine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הסריקה רצה ברקע ומזהה אוטומטית 5 סוגי סיכונים על כל המשימות: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0" y="2331720"/>
            <a:ext cx="4572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באיחור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המשימה עברה את תאריך היעד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219456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0" y="2331720"/>
            <a:ext cx="45720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4688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🚫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66344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חסום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חסום יותר מ-24 שעות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219456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1338560" y="2331720"/>
            <a:ext cx="45720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3856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24688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50392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חריגת מאמץ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03920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Overrun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 מעל הערכת השעות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38912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0" y="4526280"/>
            <a:ext cx="457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4526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2960" y="466344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🐢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82296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התקדמות איטית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2960" y="5852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Slip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960" y="6080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ההתקדמות מאחורי הזמן שעבר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89120" y="4389120"/>
            <a:ext cx="3657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98080" y="4526280"/>
            <a:ext cx="45720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4526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466344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4663440" y="5532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קריטי לא התחיל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663440" y="5852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Not Started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63440" y="6080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עדיפות קריטית, פחות מ-3 ימים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Sidekick - העוזר החכם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for your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874520"/>
            <a:ext cx="54864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39728" y="187452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2011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הקשר מלא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63640" y="2331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רואה את כל הנתונים שלך - פרויקטים, משימות, סיכונים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926080"/>
            <a:ext cx="54864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539728" y="292608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063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🇮🇱 עברית מלאה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3383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שואל בעברית, מקבל תשובה בעברית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977640"/>
            <a:ext cx="54864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39728" y="397764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114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שאלות מורכבות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4434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'מי הכי עמוס?' / 'אילו פרויקטים בסיכון?' / 'סכם את השבוע'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5029200"/>
            <a:ext cx="54864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39728" y="502920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5166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מבוסס Claude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5486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ה-LLM הטוב בעולם לעברית ולהבנת הקשר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1828800"/>
            <a:ext cx="5440680" cy="4572000"/>
          </a:xfrm>
          <a:prstGeom prst="rect">
            <a:avLst/>
          </a:prstGeom>
          <a:solidFill>
            <a:srgbClr val="F8FAFC"/>
          </a:solidFill>
          <a:ln w="25400">
            <a:solidFill>
              <a:srgbClr val="F1F5F9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1828800"/>
            <a:ext cx="544068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1828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AI Sidekick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645920" y="2606040"/>
            <a:ext cx="4114800" cy="4572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הסיכונים בפרויקט Salesforce?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3246120"/>
            <a:ext cx="49834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זוהו 4 סיכונים פעילים בפרויקט יישומי Salesforce: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המשימה 'אינטגרציה' חסומה 40 ימים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פרויקט ניהול משימות באיחור של חודשיים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440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ועדת הספקים טרם החלה (deadline 31/8)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משימות עברו את הדדליין שלהן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" y="5852160"/>
            <a:ext cx="49834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852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המלצה: הסלמת חסימת האינטגרציה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מערכת עזרה אינטראקטיבית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tour + Help bot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שתי דרכים להתמצא במערכת - מבוסס מחקר UX מ-Nielsen Norman Group ו-Microsoft Fluent: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53212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55321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2606040"/>
            <a:ext cx="1097280" cy="109728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61488" y="2606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🎓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סיור אינטראקטיבי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Tour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4800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שלבים מודרכים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effect מדגיש את האלמנט הנוכחי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מתחיל אוטומטית בכניסה ראשונה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ניווט עם חצים, Esc לסגירה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ניתן להפעיל מחדש מכפתור העזרה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2194560"/>
            <a:ext cx="553212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2194560"/>
            <a:ext cx="5532120" cy="137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76488" y="2606040"/>
            <a:ext cx="1097280" cy="10972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2606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❓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6263640" y="384048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בוט עזרה חכם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63640" y="429768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Help Bot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709160"/>
            <a:ext cx="4800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שאלות נפוצות מובנות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מהיר וחינמי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ל-Claude עם knowledge base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כפתור צף תמיד נגיש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תשובות בעברית עם דוגמאות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ניהול משתתפים ו-FTE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members &amp; FTE allocation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מקסימום הקצאת FTE למשתמש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מעל - אזהרה אדומה אוטומטית!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0" y="1965960"/>
            <a:ext cx="457200" cy="45720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תפקיד בכל פרויקט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1945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/ PM / QA / Developer / Sponsor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0" y="2880360"/>
            <a:ext cx="457200" cy="45720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אחוז משרה (FTE)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3108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כמה מזמן העבודה מוקצה לפרויקט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0" y="3794760"/>
            <a:ext cx="457200" cy="45720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צבעי רמזור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0" y="4023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ירוק 80%+ / כחול 50-80% / צהוב 25-50% / אפור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0" y="4709160"/>
            <a:ext cx="457200" cy="45720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סיכום אישי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0" y="4937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תצוגה של 'ההשתתפות שלי' עם warning של overflow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0" y="5623560"/>
            <a:ext cx="457200" cy="45720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5486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תצוגת צוות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0" y="5852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המשתתפים בכל פרויקט/תוכנית/פורטפוליו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דשבורדים ו-KPI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key performance indicators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269748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2697480" cy="10972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פרויקטים פעילים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783080"/>
            <a:ext cx="269748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783080"/>
            <a:ext cx="269748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0116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משימות פתוחות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269748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783080"/>
            <a:ext cx="269748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0116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אחוז ביצוע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1783080"/>
            <a:ext cx="269748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0" y="1783080"/>
            <a:ext cx="269748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0116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052560" y="2834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סיכונים פעילים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גרפים שמסבירים את עצמם: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60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📈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548640" y="5029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Velocity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מהירות הצוות לאורך זמן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402336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4160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📊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3383280" y="5029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Workload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20440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עומס לכל חבר צוות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02336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160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🥧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6217920" y="5029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Status Distribution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5080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התפלגות סטטוסים בעוגה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52560" y="4023360"/>
            <a:ext cx="269748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4160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💚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9052560" y="5029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Health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89720" y="5440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ציון בריאות 0-100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ניהול סיכונים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&amp; mitigation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2194560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סך פעילים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1783080"/>
            <a:ext cx="2194560" cy="1371600"/>
          </a:xfrm>
          <a:prstGeom prst="rect">
            <a:avLst/>
          </a:prstGeom>
          <a:solidFill>
            <a:srgbClr val="FEE2E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8346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קריטי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1783080"/>
            <a:ext cx="2194560" cy="1371600"/>
          </a:xfrm>
          <a:prstGeom prst="rect">
            <a:avLst/>
          </a:prstGeom>
          <a:solidFill>
            <a:srgbClr val="FED7AA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1206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גבוה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0" y="1783080"/>
            <a:ext cx="2194560" cy="137160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74066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בינוני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92640" y="1783080"/>
            <a:ext cx="2194560" cy="1371600"/>
          </a:xfrm>
          <a:prstGeom prst="rect">
            <a:avLst/>
          </a:prstGeom>
          <a:solidFill>
            <a:srgbClr val="DBEAFE"/>
          </a:solidFill>
          <a:ln w="254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96926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נמוך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מחזור חיי סיכון - אוטומציה מלאה: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27432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54864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זיהוי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" y="5440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סריקה אוטומטית של AI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3931920"/>
            <a:ext cx="27432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2900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342900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תיעדוף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429000" y="5440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דרגה ופרויקט קשור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931920"/>
            <a:ext cx="27432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0936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400" dirty="0"/>
          </a:p>
        </p:txBody>
      </p:sp>
      <p:sp>
        <p:nvSpPr>
          <p:cNvPr id="33" name="Text 31"/>
          <p:cNvSpPr/>
          <p:nvPr/>
        </p:nvSpPr>
        <p:spPr>
          <a:xfrm>
            <a:off x="630936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המלצה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09360" y="5440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פעולה מוצעת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89720" y="3931920"/>
            <a:ext cx="27432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18972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400" dirty="0"/>
          </a:p>
        </p:txBody>
      </p:sp>
      <p:sp>
        <p:nvSpPr>
          <p:cNvPr id="37" name="Text 35"/>
          <p:cNvSpPr/>
          <p:nvPr/>
        </p:nvSpPr>
        <p:spPr>
          <a:xfrm>
            <a:off x="918972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מטופל / נדחה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89720" y="5440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פעולה אנושית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47120" y="274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3A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מפת דרכים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27432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37360"/>
            <a:ext cx="27432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Q1 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 מוכן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הושלם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ארכיטקטורה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דפים פעילים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Engine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תמיכת RTL מלאה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737360"/>
            <a:ext cx="27432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737360"/>
            <a:ext cx="2743200" cy="5486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Q2 2026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 אמיתי + Auth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בעבודה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24612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737360"/>
            <a:ext cx="27432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737360"/>
            <a:ext cx="27432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Q3 2026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אינטגרציות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מתוכנן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324612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sync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notifications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89720" y="1737360"/>
            <a:ext cx="27432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89720" y="1737360"/>
            <a:ext cx="274320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Q4 2026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8116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8116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חזון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0" y="324612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Type 2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apps</a:t>
            </a:r>
            <a:endParaRPr lang="en-US" sz="11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export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3A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743200"/>
            <a:ext cx="6400800" cy="6400800"/>
          </a:xfrm>
          <a:prstGeom prst="ellipse">
            <a:avLst/>
          </a:prstGeom>
          <a:solidFill>
            <a:srgbClr val="1E5FA8">
              <a:alpha val="25000"/>
            </a:srgbClr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1E5FA8">
              <a:alpha val="20000"/>
            </a:srgbClr>
          </a:solidFill>
          <a:ln w="12700">
            <a:solidFill>
              <a:srgbClr val="1E5FA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356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תודה!</a:t>
            </a:r>
            <a:endParaRPr lang="en-US" sz="110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166360" y="4023360"/>
            <a:ext cx="1828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שאלות? פתח את בוט העזרה במערכת 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github.com/hitprojectscenter-beep/Management-APP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035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OS · המרכז למיפוי ישראל · אפריל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המרכז למיפוי ישראל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OS - פלטפורמת ניהול פרויקטים פנים-ארגונית</dc:title>
  <dc:subject>PptxGenJS Presentation</dc:subject>
  <dc:creator>Work OS</dc:creator>
  <cp:lastModifiedBy>Work OS</cp:lastModifiedBy>
  <cp:revision>1</cp:revision>
  <dcterms:created xsi:type="dcterms:W3CDTF">2026-04-07T18:43:02Z</dcterms:created>
  <dcterms:modified xsi:type="dcterms:W3CDTF">2026-04-07T18:43:02Z</dcterms:modified>
</cp:coreProperties>
</file>